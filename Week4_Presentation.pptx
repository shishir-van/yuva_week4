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35440" y="0"/>
            <a:ext cx="3017520" cy="6858000"/>
          </a:xfrm>
          <a:prstGeom prst="rect">
            <a:avLst/>
          </a:prstGeom>
          <a:solidFill>
            <a:srgbClr val="16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914400"/>
            <a:ext cx="1554480" cy="1554480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1920240"/>
            <a:ext cx="1051560" cy="1051560"/>
          </a:xfrm>
          <a:prstGeom prst="ellipse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55480" y="2880360"/>
            <a:ext cx="1828800" cy="1828800"/>
          </a:xfrm>
          <a:prstGeom prst="ellipse">
            <a:avLst/>
          </a:prstGeom>
          <a:solidFill>
            <a:srgbClr val="2A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8368"/>
            <a:ext cx="8046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BDFDE"/>
                </a:solidFill>
                <a:latin typeface="Aptos"/>
              </a:rPr>
              <a:t>YUVAINTERN • AI PIONEERS •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86384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Aptos"/>
              </a:rPr>
              <a:t>Machine Learning</a:t>
            </a:r>
          </a:p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Aptos"/>
              </a:rPr>
              <a:t>Deployment &amp;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56432"/>
            <a:ext cx="713232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DAE7EE"/>
                </a:solidFill>
                <a:latin typeface="Aptos"/>
              </a:rPr>
              <a:t>A trained model packaged as a validated prediction API with FastAPI and Joblib.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76672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B2C7D4"/>
                </a:solidFill>
                <a:latin typeface="Aptos"/>
              </a:rPr>
              <a:t>Breast Cancer Wisconsin • Logistic Regression • Local API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5989320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PROJECT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32B44"/>
                </a:solidFill>
                <a:latin typeface="Aptos"/>
              </a:rPr>
              <a:t>1. Week 4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41832"/>
            <a:ext cx="749808" cy="5029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0707E"/>
                </a:solidFill>
                <a:latin typeface="Aptos"/>
              </a:rPr>
              <a:t>Turn the Week 3 model into a small, testable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070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4008" cy="1874519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Train &amp; 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21992"/>
            <a:ext cx="3108960" cy="125272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Load the dataset, split train/test, fit preprocessing + Logistic Regression, and record test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64008" cy="1874519"/>
          </a:xfrm>
          <a:prstGeom prst="rect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Serialize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21992"/>
            <a:ext cx="3108960" cy="125272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Save the fitted pipeline plus feature schema and class mapping with Joblib.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64008" cy="1874519"/>
          </a:xfrm>
          <a:prstGeom prst="rect">
            <a:avLst/>
          </a:prstGeom>
          <a:solidFill>
            <a:srgbClr val="29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Serve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21992"/>
            <a:ext cx="3108960" cy="125272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Expose health, model-info, and prediction endpoints using FastAPI.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60520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32B44"/>
                </a:solidFill>
                <a:latin typeface="Aptos"/>
              </a:rPr>
              <a:t>Deliverables included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4754879"/>
            <a:ext cx="100584" cy="100584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663440"/>
            <a:ext cx="10314432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B3947"/>
                </a:solidFill>
                <a:latin typeface="Aptos"/>
              </a:rPr>
              <a:t>Runnable Python project and dependency file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5166359"/>
            <a:ext cx="100584" cy="100584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074920"/>
            <a:ext cx="10314432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B3947"/>
                </a:solidFill>
                <a:latin typeface="Aptos"/>
              </a:rPr>
              <a:t>API request/response examples and automated tests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5577840"/>
            <a:ext cx="100584" cy="100584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486400"/>
            <a:ext cx="10314432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B3947"/>
                </a:solidFill>
                <a:latin typeface="Aptos"/>
              </a:rPr>
              <a:t>Project report and presentation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32B44"/>
                </a:solidFill>
                <a:latin typeface="Aptos"/>
              </a:rPr>
              <a:t>2. Dataset &amp;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41832"/>
            <a:ext cx="749808" cy="5029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0707E"/>
                </a:solidFill>
                <a:latin typeface="Aptos"/>
              </a:rPr>
              <a:t>Reuse the same dataset and best-performing Week 3 classifier.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0707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017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132588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37360"/>
            <a:ext cx="269747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30552"/>
            <a:ext cx="2697479" cy="70408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569 observations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30 numerical features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357 benign • 212 malignant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600200"/>
            <a:ext cx="3017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600200"/>
            <a:ext cx="64008" cy="1325880"/>
          </a:xfrm>
          <a:prstGeom prst="rect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737360"/>
            <a:ext cx="269747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Train/test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30552"/>
            <a:ext cx="2697479" cy="70408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80% / 20%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Stratified split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random_state = 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60020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600200"/>
            <a:ext cx="64008" cy="1325880"/>
          </a:xfrm>
          <a:prstGeom prst="rect">
            <a:avLst/>
          </a:prstGeom>
          <a:solidFill>
            <a:srgbClr val="29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737360"/>
            <a:ext cx="35204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130552"/>
            <a:ext cx="3520440" cy="70408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StandardScaler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→ LogisticRegression(max_iter=3000)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Scaler is saved with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29000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32B44"/>
                </a:solidFill>
                <a:latin typeface="Aptos"/>
              </a:rPr>
              <a:t>Why keep preprocessing inside the saved pipeline?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968496"/>
            <a:ext cx="10424160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B3947"/>
                </a:solidFill>
                <a:latin typeface="Aptos"/>
              </a:rPr>
              <a:t>The API must apply the exact same scaling transformation used during training. Saving the scaler and classifier together prevents inconsistent feature scaling during inference.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10607040" cy="640080"/>
          </a:xfrm>
          <a:prstGeom prst="roundRect">
            <a:avLst/>
          </a:prstGeom>
          <a:solidFill>
            <a:srgbClr val="E9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58384"/>
            <a:ext cx="102412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32B44"/>
                </a:solidFill>
                <a:latin typeface="Aptos"/>
              </a:rPr>
              <a:t>Target mapping: 0 = malignant  |  1 = benign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32B44"/>
                </a:solidFill>
                <a:latin typeface="Aptos"/>
              </a:rPr>
              <a:t>3. Application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41832"/>
            <a:ext cx="749808" cy="5029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0707E"/>
                </a:solidFill>
                <a:latin typeface="Aptos"/>
              </a:rPr>
              <a:t>A simple flow from a client request to a JSON prediction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070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4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2304288"/>
            <a:ext cx="402336" cy="402336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377440"/>
            <a:ext cx="40233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16352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82112"/>
            <a:ext cx="190195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947"/>
                </a:solidFill>
                <a:latin typeface="Aptos"/>
              </a:rPr>
              <a:t>Send JSON with 30 named features</a:t>
            </a:r>
          </a:p>
        </p:txBody>
      </p:sp>
      <p:sp>
        <p:nvSpPr>
          <p:cNvPr id="12" name="Chevron 11"/>
          <p:cNvSpPr/>
          <p:nvPr/>
        </p:nvSpPr>
        <p:spPr>
          <a:xfrm>
            <a:off x="2898648" y="2706624"/>
            <a:ext cx="347472" cy="402336"/>
          </a:xfrm>
          <a:prstGeom prst="chevron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4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5304" y="2304288"/>
            <a:ext cx="402336" cy="402336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377440"/>
            <a:ext cx="40233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816352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182112"/>
            <a:ext cx="190195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947"/>
                </a:solidFill>
                <a:latin typeface="Aptos"/>
              </a:rPr>
              <a:t>Check missing/unknown keys</a:t>
            </a:r>
          </a:p>
        </p:txBody>
      </p:sp>
      <p:sp>
        <p:nvSpPr>
          <p:cNvPr id="18" name="Chevron 17"/>
          <p:cNvSpPr/>
          <p:nvPr/>
        </p:nvSpPr>
        <p:spPr>
          <a:xfrm>
            <a:off x="5824728" y="2706624"/>
            <a:ext cx="347472" cy="402336"/>
          </a:xfrm>
          <a:prstGeom prst="chevron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14884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4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01384" y="2304288"/>
            <a:ext cx="402336" cy="402336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2377440"/>
            <a:ext cx="40233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816352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Model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182112"/>
            <a:ext cx="190195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947"/>
                </a:solidFill>
                <a:latin typeface="Aptos"/>
              </a:rPr>
              <a:t>Apply saved scaler + classifier</a:t>
            </a:r>
          </a:p>
        </p:txBody>
      </p:sp>
      <p:sp>
        <p:nvSpPr>
          <p:cNvPr id="24" name="Chevron 23"/>
          <p:cNvSpPr/>
          <p:nvPr/>
        </p:nvSpPr>
        <p:spPr>
          <a:xfrm>
            <a:off x="8750808" y="2706624"/>
            <a:ext cx="347472" cy="402336"/>
          </a:xfrm>
          <a:prstGeom prst="chevron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81160" y="214884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4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27464" y="2304288"/>
            <a:ext cx="402336" cy="402336"/>
          </a:xfrm>
          <a:prstGeom prst="ellipse">
            <a:avLst/>
          </a:prstGeom>
          <a:solidFill>
            <a:srgbClr val="29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7464" y="2377440"/>
            <a:ext cx="40233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816352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3182112"/>
            <a:ext cx="190195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947"/>
                </a:solidFill>
                <a:latin typeface="Aptos"/>
              </a:rPr>
              <a:t>Class label + probabilities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32B44"/>
                </a:solidFill>
                <a:latin typeface="Aptos"/>
              </a:rPr>
              <a:t>FastAPI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01184"/>
            <a:ext cx="201168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919B"/>
                </a:solidFill>
                <a:latin typeface="Aptos"/>
              </a:rPr>
              <a:t>GET /health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901184"/>
            <a:ext cx="768096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Service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21224"/>
            <a:ext cx="201168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919B"/>
                </a:solidFill>
                <a:latin typeface="Aptos"/>
              </a:rPr>
              <a:t>GET /model-info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221224"/>
            <a:ext cx="768096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Feature schema, class names, 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541264"/>
            <a:ext cx="201168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919B"/>
                </a:solidFill>
                <a:latin typeface="Aptos"/>
              </a:rPr>
              <a:t>POST /predict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541264"/>
            <a:ext cx="768096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Prediction and class probabilities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61304"/>
            <a:ext cx="201168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919B"/>
                </a:solidFill>
                <a:latin typeface="Aptos"/>
              </a:rPr>
              <a:t>GET /docs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861304"/>
            <a:ext cx="7680960" cy="2651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Interactive Swagger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32B44"/>
                </a:solidFill>
                <a:latin typeface="Aptos"/>
              </a:rPr>
              <a:t>4. Held-out test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41832"/>
            <a:ext cx="749808" cy="5029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0707E"/>
                </a:solidFill>
                <a:latin typeface="Aptos"/>
              </a:rPr>
              <a:t>Metrics are generated by train_model.py on the 114-row test split.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0707E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2B44"/>
                </a:solidFill>
                <a:latin typeface="Aptos"/>
              </a:rP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64792"/>
            <a:ext cx="6675120" cy="292608"/>
          </a:xfrm>
          <a:prstGeom prst="round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764792"/>
            <a:ext cx="6558012" cy="292608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1719072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98.25%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32888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2B44"/>
                </a:solidFill>
                <a:latin typeface="Aptos"/>
              </a:rPr>
              <a:t>Benign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560320"/>
            <a:ext cx="6675120" cy="292608"/>
          </a:xfrm>
          <a:prstGeom prst="round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2560320"/>
            <a:ext cx="6582410" cy="292608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514600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98.61%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5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2B44"/>
                </a:solidFill>
                <a:latin typeface="Aptos"/>
              </a:rPr>
              <a:t>Malignant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355847"/>
            <a:ext cx="6675120" cy="292608"/>
          </a:xfrm>
          <a:prstGeom prst="round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3355847"/>
            <a:ext cx="6516188" cy="292608"/>
          </a:xfrm>
          <a:prstGeom prst="roundRect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3310127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97.62%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23944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2B44"/>
                </a:solidFill>
                <a:latin typeface="Aptos"/>
              </a:rPr>
              <a:t>ROC-AUC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51376"/>
            <a:ext cx="6675120" cy="292608"/>
          </a:xfrm>
          <a:prstGeom prst="round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0" y="4151376"/>
            <a:ext cx="6644216" cy="292608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4105656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99.54%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10424160" cy="749808"/>
          </a:xfrm>
          <a:prstGeom prst="roundRect">
            <a:avLst/>
          </a:prstGeom>
          <a:solidFill>
            <a:srgbClr val="E9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0584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32B44"/>
                </a:solidFill>
                <a:latin typeface="Aptos"/>
              </a:rPr>
              <a:t>Malignant recall is reported separately because missed malignant cases are an important error. These results are educational only and do not establish clinical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32B44"/>
                </a:solidFill>
                <a:latin typeface="Aptos"/>
              </a:rPr>
              <a:t>5. API validation &amp;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41832"/>
            <a:ext cx="749808" cy="5029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0707E"/>
                </a:solidFill>
                <a:latin typeface="Aptos"/>
              </a:rPr>
              <a:t>Tested local behavior before handing off the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0707E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64008" cy="150876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92607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Health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926079" cy="88696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GET /health returns HTTP 200 and confirms model is loaded.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64008" cy="1508760"/>
          </a:xfrm>
          <a:prstGeom prst="rect">
            <a:avLst/>
          </a:prstGeom>
          <a:solidFill>
            <a:srgbClr val="29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74519"/>
            <a:ext cx="292607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Prediction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67712"/>
            <a:ext cx="2926079" cy="88696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Valid input returns class label and probabilities that sum to ~1.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73736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737360"/>
            <a:ext cx="64008" cy="1508760"/>
          </a:xfrm>
          <a:prstGeom prst="rect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874519"/>
            <a:ext cx="292607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Invalid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267712"/>
            <a:ext cx="2926079" cy="88696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Missing or unknown feature names return HTTP 422 with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77639"/>
            <a:ext cx="10515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87952"/>
            <a:ext cx="9966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298769"/>
                </a:solidFill>
                <a:latin typeface="Aptos"/>
              </a:rPr>
              <a:t>Automated API test suite: 4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45152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0707E"/>
                </a:solidFill>
                <a:latin typeface="Aptos"/>
              </a:rPr>
              <a:t>Command: pytest -q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Local docs: http://127.0.0.1:8000/docs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32B44"/>
                </a:solidFill>
                <a:latin typeface="Aptos"/>
              </a:rPr>
              <a:t>6. Deployment steps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41832"/>
            <a:ext cx="749808" cy="5029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0707E"/>
                </a:solidFill>
                <a:latin typeface="Aptos"/>
              </a:rPr>
              <a:t>Local deployment is implemented; public cloud hosting remains a separate next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070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19202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Run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4846320" cy="12984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1. Create and activate a virtual environment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2. Install requirements.txt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3. Run python train_model.py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4. Run uvicorn app:app --reload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5. Open /docs and run a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64008" cy="1920240"/>
          </a:xfrm>
          <a:prstGeom prst="rect">
            <a:avLst/>
          </a:prstGeom>
          <a:solidFill>
            <a:srgbClr val="EA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32B44"/>
                </a:solidFill>
                <a:latin typeface="Aptos"/>
              </a:rPr>
              <a:t>Before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30552"/>
            <a:ext cx="4846320" cy="12984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• Add HTTPS and access controls where needed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• Add structured logs, monitoring and rate limits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• Review privacy, security and host configuration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947"/>
                </a:solidFill>
                <a:latin typeface="Aptos"/>
              </a:rPr>
              <a:t>• Rebuild the model if library versions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105156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32B44"/>
                </a:solidFill>
                <a:latin typeface="Aptos"/>
              </a:rPr>
              <a:t>Important limitations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617720"/>
            <a:ext cx="100584" cy="100584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526280"/>
            <a:ext cx="1013155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B3947"/>
                </a:solidFill>
                <a:latin typeface="Aptos"/>
              </a:rPr>
              <a:t>No public cloud URL is claimed; the delivered app is locally runnable.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093208"/>
            <a:ext cx="100584" cy="100584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001768"/>
            <a:ext cx="1013155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B3947"/>
                </a:solidFill>
                <a:latin typeface="Aptos"/>
              </a:rPr>
              <a:t>This teaching dataset/model is not for medical decisions or clinical use.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568696"/>
            <a:ext cx="100584" cy="100584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477256"/>
            <a:ext cx="1013155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B3947"/>
                </a:solidFill>
                <a:latin typeface="Aptos"/>
              </a:rPr>
              <a:t>Any real-world use would require external validation, bias review and governance.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919B"/>
                </a:solidFill>
                <a:latin typeface="Aptos"/>
              </a:rPr>
              <a:t>Deliverables: project ZIP • Week4_Report.docx • Week4_Presentation.pptx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